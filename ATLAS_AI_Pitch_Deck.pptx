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90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11680"/>
            <a:ext cx="1069848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ATLAS </a:t>
            </a:r>
            <a:r>
              <a:rPr lang="en-US" dirty="0"/>
              <a:t>-</a:t>
            </a:r>
            <a:r>
              <a:rPr dirty="0"/>
              <a:t> AI</a:t>
            </a:r>
          </a:p>
          <a:p>
            <a:pPr>
              <a:spcAft>
                <a:spcPts val="2000"/>
              </a:spcAft>
              <a:defRPr sz="2200">
                <a:solidFill>
                  <a:srgbClr val="3B82F6"/>
                </a:solidFill>
                <a:latin typeface="Segoe UI"/>
              </a:defRPr>
            </a:pPr>
            <a:r>
              <a:rPr dirty="0"/>
              <a:t>Autonomous Legal Entities Operating on Decentralized Rails</a:t>
            </a:r>
          </a:p>
          <a:p>
            <a:pPr>
              <a:defRPr sz="1400">
                <a:solidFill>
                  <a:srgbClr val="9CA3AF"/>
                </a:solidFill>
                <a:latin typeface="Segoe UI"/>
              </a:defRPr>
            </a:pPr>
            <a:r>
              <a:rPr dirty="0"/>
              <a:t>Next-Gen AI Business Operations Command Center with Smart Contract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0"/>
            <a:ext cx="220765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DEVELOPED BY: TEAM MERIDIAN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rPr lang="en-US" dirty="0"/>
              <a:t>Elevate 2026</a:t>
            </a:r>
            <a:r>
              <a:rPr dirty="0"/>
              <a:t> 2026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ATLAS // AUTONOMOUS LEGAL 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Traditional Business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B82F6"/>
                </a:solidFill>
                <a:latin typeface="Segoe UI"/>
              </a:defRPr>
            </a:pPr>
            <a:r>
              <a:t>The Modern Enterprise Bottleneck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• Administrative Overhead</a:t>
            </a:r>
          </a:p>
          <a:p>
            <a:pPr>
              <a:spcAft>
                <a:spcPts val="8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Corporate structure setups require expensive legal consulting, notary validation, and endless paperwork filing.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• Static Decision Loops</a:t>
            </a:r>
          </a:p>
          <a:p>
            <a:pPr>
              <a:spcAft>
                <a:spcPts val="8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Traditional managers react to market shifts slowly. Weather anomalies, supply disruptions, or demand drops cause delayed responses.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• Siloed Financials &amp; Payouts</a:t>
            </a:r>
          </a:p>
          <a:p>
            <a:pPr>
              <a:spcAft>
                <a:spcPts val="8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Settlements with workers take days/weeks. Bookkeeping is manually tracked in fragmented spreadsheets prone to errors.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• Lack of Transparency</a:t>
            </a:r>
          </a:p>
          <a:p>
            <a:pPr>
              <a:spcAft>
                <a:spcPts val="8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Internal governance decisions are locked behind closed doors, providing no audit trail for stakeholders.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4141A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The Operational Cost of Friction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1600">
                <a:solidFill>
                  <a:srgbClr val="D1D5DB"/>
                </a:solidFill>
                <a:latin typeface="Segoe UI"/>
              </a:defRPr>
            </a:pPr>
            <a:r>
              <a:t>Organizations spend up to 35% of revenue on administrative compliance, management overhead, and middle-man contract enforcement.</a:t>
            </a:r>
          </a:p>
          <a:p>
            <a:pPr algn="ctr">
              <a:defRPr sz="5400" b="1">
                <a:solidFill>
                  <a:srgbClr val="9333EA"/>
                </a:solidFill>
                <a:latin typeface="Segoe UI"/>
              </a:defRPr>
            </a:pPr>
            <a:r>
              <a:t>10x</a:t>
            </a:r>
          </a:p>
          <a:p>
            <a:pPr algn="ctr">
              <a:defRPr sz="1100">
                <a:solidFill>
                  <a:srgbClr val="9CA3AF"/>
                </a:solidFill>
                <a:latin typeface="Segoe UI"/>
              </a:defRPr>
            </a:pPr>
            <a:r>
              <a:t>Slowdown in executing legal &amp; vendor agreements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ATLAS // AUTONOMOUS LEGAL 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ATLAS AI: The First Fully Autonomous Legal 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4114800"/>
          </a:xfrm>
          <a:prstGeom prst="rect">
            <a:avLst/>
          </a:prstGeom>
          <a:solidFill>
            <a:srgbClr val="14141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Autonomous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>
                <a:solidFill>
                  <a:srgbClr val="D1D5DB"/>
                </a:solidFill>
                <a:latin typeface="Segoe UI"/>
              </a:defRPr>
            </a:pPr>
            <a:r>
              <a:t>Governed entirely by an AI agent (CEO) that evaluates market variables and automatically takes ledger actions without a human middle-man.</a:t>
            </a:r>
          </a:p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ACTIVE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383280" cy="4114800"/>
          </a:xfrm>
          <a:prstGeom prst="rect">
            <a:avLst/>
          </a:prstGeom>
          <a:solidFill>
            <a:srgbClr val="14141A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Decentralized Payouts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774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>
                <a:solidFill>
                  <a:srgbClr val="D1D5DB"/>
                </a:solidFill>
                <a:latin typeface="Segoe UI"/>
              </a:defRPr>
            </a:pPr>
            <a:r>
              <a:t>Uses Smart Contract mechanics to secure worker payouts instantly. Funds are released programmatically upon verification of job completion.</a:t>
            </a:r>
          </a:p>
          <a:p>
            <a:pPr>
              <a:defRPr sz="900" b="1">
                <a:solidFill>
                  <a:srgbClr val="9333EA"/>
                </a:solidFill>
                <a:latin typeface="Segoe UI"/>
              </a:defRPr>
            </a:pPr>
            <a:r>
              <a:t>ACTIVE PROTOCOL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4114800"/>
          </a:xfrm>
          <a:prstGeom prst="rect">
            <a:avLst/>
          </a:prstGeom>
          <a:solidFill>
            <a:srgbClr val="14141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Dynamic Market Adaptation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3774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>
                <a:solidFill>
                  <a:srgbClr val="D1D5DB"/>
                </a:solidFill>
                <a:latin typeface="Segoe UI"/>
              </a:defRPr>
            </a:pPr>
            <a:r>
              <a:t>Connects to active external Oracles (simulated weather/price feeds) to recalibrate retail prices, supply orders, and job rates in real-time.</a:t>
            </a:r>
          </a:p>
          <a:p>
            <a:pPr>
              <a:defRPr sz="900" b="1">
                <a:solidFill>
                  <a:srgbClr val="10B981"/>
                </a:solidFill>
                <a:latin typeface="Segoe UI"/>
              </a:defRPr>
            </a:pPr>
            <a:r>
              <a:t>ACTIVE PROTOCOL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ATLAS // AUTONOMOUS LEGAL 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How it Works: The Operational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468880" cy="4114800"/>
          </a:xfrm>
          <a:prstGeom prst="rect">
            <a:avLst/>
          </a:prstGeom>
          <a:solidFill>
            <a:srgbClr val="14141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1. Oracle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1D5DB"/>
                </a:solidFill>
                <a:latin typeface="Segoe UI"/>
              </a:defRPr>
            </a:pPr>
            <a:r>
              <a:t>System captures live external telemetry inputs (e.g. weather, price spikes, traffic indices) and feeds it to the AI decision 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32918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333EA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645920"/>
            <a:ext cx="2468880" cy="4114800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2. AI CEO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2860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1D5DB"/>
                </a:solidFill>
                <a:latin typeface="Segoe UI"/>
              </a:defRPr>
            </a:pPr>
            <a:r>
              <a:t>AI analyzes input telemetry, references current treasury balances, checks remaining inventory, and formulates strategic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32918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333EA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2468880" cy="4114800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3. Smart Ledger 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860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1D5DB"/>
                </a:solidFill>
                <a:latin typeface="Segoe UI"/>
              </a:defRPr>
            </a:pPr>
            <a:r>
              <a:t>Decisions are committed to the business state. Contracts automatically update prices or dispatch open workforce positions.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2918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333EA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60" y="1645920"/>
            <a:ext cx="2468880" cy="4114800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0" y="1828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4. Automated Payouts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2860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1D5DB"/>
                </a:solidFill>
                <a:latin typeface="Segoe UI"/>
              </a:defRPr>
            </a:pPr>
            <a:r>
              <a:t>Workers execute jobs, report proof of work, and receive instantaneous payment from the on-chain multi-sig wallet.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ATLAS // AUTONOMOUS LEGAL 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Simulated Sandbox: Lemonade Stand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 Fully Integrated Economic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3B82F6"/>
                </a:solidFill>
                <a:latin typeface="Segoe UI"/>
              </a:defRPr>
            </a:pPr>
            <a:r>
              <a:t>To demonstrate ATLAS AI in a self-sustaining environment, we simulated a micro-economy: a Lemonade Stand managed entirely by AI.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AI Purchasing Decisions: 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When ingredients (Lemons, Sugar, Cups, Ice) run low, the AI autonomously orders more from virtual wholesalers, calculating the unit cost against current treasury margins.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Recruitment &amp; Job Board: 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The AI creates job openings ('Make Lemonade', 'Manage Sales'). Human users submit worker credentials and digital wallet addresses to claim tasks.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Autonomous Sales &amp; Dynamic Pricing: 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The AI adjusts price per cup (e.g. ₹20 on hot sunny days vs. ₹10 on rainy days). Sales are computed based on dynamic customer demand indexes.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ATLAS // AUTONOMOUS LEGAL 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Decentralized &amp; Intelligent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3B82F6"/>
                </a:solidFill>
                <a:latin typeface="Segoe UI"/>
              </a:defRPr>
            </a:pPr>
            <a:r>
              <a:t>System Integration Layers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✔ AI Reasoner Interface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  <a:latin typeface="Segoe UI"/>
              </a:defRPr>
            </a:pPr>
            <a:r>
              <a:t>Claude 3.5 Sonnet / local LLMs serving as the business brain, evaluating trade-offs, price changes, and worker recruitment strategy.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✔ Local DB &amp; ORM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  <a:latin typeface="Segoe UI"/>
              </a:defRPr>
            </a:pPr>
            <a:r>
              <a:t>SQLite Database managed through Prisma ORM for tracking inventory levels, historical decisions, transactions, and logs.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✔ Web3 Smart Contracts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  <a:latin typeface="Segoe UI"/>
              </a:defRPr>
            </a:pPr>
            <a:r>
              <a:t>Hardhat development framework with ethers.js to simulate transaction settlements, payroll deposits, and verified state changes.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✔ Telemetry Frontend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  <a:latin typeface="Segoe UI"/>
              </a:defRPr>
            </a:pPr>
            <a:r>
              <a:t>Next.js 16 + React 19 + Tailwind CSS + Recharts visualizer. Powered by Turbopack for ultra-fast dashboard reloads.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4141A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Architecture Dataflow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1200" b="1">
                <a:solidFill>
                  <a:srgbClr val="9333EA"/>
                </a:solidFill>
                <a:latin typeface="Segoe UI"/>
              </a:defRPr>
            </a:pPr>
            <a:r>
              <a:t>[1] Market Oracle Update</a:t>
            </a:r>
          </a:p>
          <a:p>
            <a:pPr>
              <a:spcAft>
                <a:spcPts val="400"/>
              </a:spcAft>
              <a:defRPr sz="1000">
                <a:solidFill>
                  <a:srgbClr val="D1D5DB"/>
                </a:solidFill>
                <a:latin typeface="Segoe UI"/>
              </a:defRPr>
            </a:pPr>
            <a:r>
              <a:t>Updates weather &amp; pricing constants.</a:t>
            </a:r>
          </a:p>
          <a:p>
            <a:pPr>
              <a:spcBef>
                <a:spcPts val="800"/>
              </a:spcBef>
              <a:defRPr sz="1200" b="1">
                <a:solidFill>
                  <a:srgbClr val="9333EA"/>
                </a:solidFill>
                <a:latin typeface="Segoe UI"/>
              </a:defRPr>
            </a:pPr>
            <a:r>
              <a:t>[2] LLM CEO Reasoning Engine</a:t>
            </a:r>
          </a:p>
          <a:p>
            <a:pPr>
              <a:spcAft>
                <a:spcPts val="400"/>
              </a:spcAft>
              <a:defRPr sz="1000">
                <a:solidFill>
                  <a:srgbClr val="D1D5DB"/>
                </a:solidFill>
                <a:latin typeface="Segoe UI"/>
              </a:defRPr>
            </a:pPr>
            <a:r>
              <a:t>Evaluates inventory &amp; runs logic.</a:t>
            </a:r>
          </a:p>
          <a:p>
            <a:pPr>
              <a:spcBef>
                <a:spcPts val="800"/>
              </a:spcBef>
              <a:defRPr sz="1200" b="1">
                <a:solidFill>
                  <a:srgbClr val="9333EA"/>
                </a:solidFill>
                <a:latin typeface="Segoe UI"/>
              </a:defRPr>
            </a:pPr>
            <a:r>
              <a:t>[3] Hardhat Mock Blockchain Ledger</a:t>
            </a:r>
          </a:p>
          <a:p>
            <a:pPr>
              <a:spcAft>
                <a:spcPts val="400"/>
              </a:spcAft>
              <a:defRPr sz="1000">
                <a:solidFill>
                  <a:srgbClr val="D1D5DB"/>
                </a:solidFill>
                <a:latin typeface="Segoe UI"/>
              </a:defRPr>
            </a:pPr>
            <a:r>
              <a:t>Dispatches on-chain transactions.</a:t>
            </a:r>
          </a:p>
          <a:p>
            <a:pPr>
              <a:spcBef>
                <a:spcPts val="800"/>
              </a:spcBef>
              <a:defRPr sz="1200" b="1">
                <a:solidFill>
                  <a:srgbClr val="9333EA"/>
                </a:solidFill>
                <a:latin typeface="Segoe UI"/>
              </a:defRPr>
            </a:pPr>
            <a:r>
              <a:t>[4] Next.js Telemetry NOC Dashboard</a:t>
            </a:r>
          </a:p>
          <a:p>
            <a:pPr>
              <a:spcAft>
                <a:spcPts val="400"/>
              </a:spcAft>
              <a:defRPr sz="1000">
                <a:solidFill>
                  <a:srgbClr val="D1D5DB"/>
                </a:solidFill>
                <a:latin typeface="Segoe UI"/>
              </a:defRPr>
            </a:pPr>
            <a:r>
              <a:t>Displays telemetry in real-time.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ATLAS // AUTONOMOUS LEGAL 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Cyber-NOC Dashboard: Operation Command Center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Premium Telemetry Operations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3B82F6"/>
                </a:solidFill>
                <a:latin typeface="Segoe UI"/>
              </a:defRPr>
            </a:pPr>
            <a:r>
              <a:t>A high-end dark luxury telemetry interface that gives operations managers oversight over the ALE's operations.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Telemetry Data Visualization: 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Recharts-powered interactive line and bar charts tracking revenue, dynamic weather metrics, and profit margins.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Live Transaction Feed: 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Real-time updates showing block transactions, deployment hashes, inventory buying fees, and deposit logs.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AI Command Terminal: 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Provides a terminal interface allowing developers to trigger mock outage states, change weather oracle data, or force CEO ticks manually.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Dynamic State Controls: 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Switch state between online/offline operations instantly, demonstrating state synchronization between local SQLite and virtual blockchain nodes.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ATLAS // AUTONOMOUS LEGAL 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Dynamic Pricing Engine: Maximizing Profit Margins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3B82F6"/>
                </a:solidFill>
                <a:latin typeface="Segoe UI"/>
              </a:defRPr>
            </a:pPr>
            <a:r>
              <a:t>How the Dynamic Engine Works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Weather Oracle Alignment</a:t>
            </a:r>
          </a:p>
          <a:p>
            <a:pPr>
              <a:spcAft>
                <a:spcPts val="400"/>
              </a:spcAft>
              <a:defRPr sz="1000">
                <a:solidFill>
                  <a:srgbClr val="D1D5DB"/>
                </a:solidFill>
                <a:latin typeface="Segoe UI"/>
              </a:defRPr>
            </a:pPr>
            <a:r>
              <a:t>If weather changes to 'Hot/Sunny', consumer demand index jumps up. The AI automatically increases the lemonade price per cup (e.g. ₹20-25).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Rainy/Cloudy Mitigation</a:t>
            </a:r>
          </a:p>
          <a:p>
            <a:pPr>
              <a:spcAft>
                <a:spcPts val="400"/>
              </a:spcAft>
              <a:defRPr sz="1000">
                <a:solidFill>
                  <a:srgbClr val="D1D5DB"/>
                </a:solidFill>
                <a:latin typeface="Segoe UI"/>
              </a:defRPr>
            </a:pPr>
            <a:r>
              <a:t>In case of rainy weather (drop in traffic), the AI reduces prices to ₹8-10 to trigger volume sales and avoid ingredient expiration.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Inventory Overhead Calculations</a:t>
            </a:r>
          </a:p>
          <a:p>
            <a:pPr>
              <a:spcAft>
                <a:spcPts val="400"/>
              </a:spcAft>
              <a:defRPr sz="1000">
                <a:solidFill>
                  <a:srgbClr val="D1D5DB"/>
                </a:solidFill>
                <a:latin typeface="Segoe UI"/>
              </a:defRPr>
            </a:pPr>
            <a:r>
              <a:t>Calculates holding costs. If ice cubes are melting or inventory limits are near, prices drop to clear out materials.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Competitor &amp; Cost Indexing</a:t>
            </a:r>
          </a:p>
          <a:p>
            <a:pPr>
              <a:spcAft>
                <a:spcPts val="400"/>
              </a:spcAft>
              <a:defRPr sz="1000">
                <a:solidFill>
                  <a:srgbClr val="D1D5DB"/>
                </a:solidFill>
                <a:latin typeface="Segoe UI"/>
              </a:defRPr>
            </a:pPr>
            <a:r>
              <a:t>Tracks wholesale cost changes. If wholesale lemon price spikes, the minimum price threshold shifts automatically.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4141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AI Engine Yield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1400">
                <a:solidFill>
                  <a:srgbClr val="D1D5DB"/>
                </a:solidFill>
                <a:latin typeface="Segoe UI"/>
              </a:defRPr>
            </a:pPr>
            <a:r>
              <a:t>During simulations, dynamic pricing adjustments outperformed static pricing schemes by increasing overall yield:</a:t>
            </a:r>
          </a:p>
          <a:p>
            <a:pPr algn="ctr">
              <a:defRPr sz="5400" b="1">
                <a:solidFill>
                  <a:srgbClr val="10B981"/>
                </a:solidFill>
                <a:latin typeface="Segoe UI"/>
              </a:defRPr>
            </a:pPr>
            <a:r>
              <a:t>+42%</a:t>
            </a:r>
          </a:p>
          <a:p>
            <a:pPr algn="ctr">
              <a:defRPr sz="1100">
                <a:solidFill>
                  <a:srgbClr val="9CA3AF"/>
                </a:solidFill>
                <a:latin typeface="Segoe UI"/>
              </a:defRPr>
            </a:pPr>
            <a:r>
              <a:t>Increase in overall business profitability margins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ATLAS // AUTONOMOUS LEGAL 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Decentralized Workforce: Autonomous Recruitment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4114800"/>
          </a:xfrm>
          <a:prstGeom prst="rect">
            <a:avLst/>
          </a:prstGeom>
          <a:solidFill>
            <a:srgbClr val="14141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1. Job Postings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>
                <a:solidFill>
                  <a:srgbClr val="D1D5DB"/>
                </a:solidFill>
                <a:latin typeface="Segoe UI"/>
              </a:defRPr>
            </a:pPr>
            <a:r>
              <a:t>When operations begin or scaling is required, the AI posts jobs to the on-chain board with payment rates (e.g. 'Produce Lemonade', Rate: ₹200).</a:t>
            </a:r>
          </a:p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VERIFIED CONTRACT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383280" cy="4114800"/>
          </a:xfrm>
          <a:prstGeom prst="rect">
            <a:avLst/>
          </a:prstGeom>
          <a:solidFill>
            <a:srgbClr val="14141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2. Identity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774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>
                <a:solidFill>
                  <a:srgbClr val="D1D5DB"/>
                </a:solidFill>
                <a:latin typeface="Segoe UI"/>
              </a:defRPr>
            </a:pPr>
            <a:r>
              <a:t>Gig workers apply by linking their web3 wallet and providing identity info. AI registers them in the contract database.</a:t>
            </a:r>
          </a:p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VERIFIED CONTRACT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4114800"/>
          </a:xfrm>
          <a:prstGeom prst="rect">
            <a:avLst/>
          </a:prstGeom>
          <a:solidFill>
            <a:srgbClr val="14141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3. Automated Payroll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3774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>
                <a:solidFill>
                  <a:srgbClr val="D1D5DB"/>
                </a:solidFill>
                <a:latin typeface="Segoe UI"/>
              </a:defRPr>
            </a:pPr>
            <a:r>
              <a:t>Once the task is submitted, the AI verifies the job status and issues a direct payout transaction. Zero billing paperwork required.</a:t>
            </a:r>
          </a:p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VERIFIED CONTRACT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ATLAS // AUTONOMOUS LEGAL 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Blockchain Treasury: Auditable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3B82F6"/>
                </a:solidFill>
                <a:latin typeface="Segoe UI"/>
              </a:defRPr>
            </a:pPr>
            <a:r>
              <a:t>Decentralized Capital Management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✔ Non-Custodial Account Structures</a:t>
            </a:r>
          </a:p>
          <a:p>
            <a:pPr>
              <a:spcAft>
                <a:spcPts val="400"/>
              </a:spcAft>
              <a:defRPr sz="1000">
                <a:solidFill>
                  <a:srgbClr val="D1D5DB"/>
                </a:solidFill>
                <a:latin typeface="Segoe UI"/>
              </a:defRPr>
            </a:pPr>
            <a:r>
              <a:t>Capital is held in transparent blockchain wallets, meaning shareholders can track every transaction in real-time.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✔ Multi-Sig Operational Safe</a:t>
            </a:r>
          </a:p>
          <a:p>
            <a:pPr>
              <a:spcAft>
                <a:spcPts val="400"/>
              </a:spcAft>
              <a:defRPr sz="1000">
                <a:solidFill>
                  <a:srgbClr val="D1D5DB"/>
                </a:solidFill>
                <a:latin typeface="Segoe UI"/>
              </a:defRPr>
            </a:pPr>
            <a:r>
              <a:t>Large expenses (like inventory restocks above ₹1000) require secondary oracle validations to prevent AI exploitation.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✔ Automated Gas &amp; Fee Handling</a:t>
            </a:r>
          </a:p>
          <a:p>
            <a:pPr>
              <a:spcAft>
                <a:spcPts val="400"/>
              </a:spcAft>
              <a:defRPr sz="1000">
                <a:solidFill>
                  <a:srgbClr val="D1D5DB"/>
                </a:solidFill>
                <a:latin typeface="Segoe UI"/>
              </a:defRPr>
            </a:pPr>
            <a:r>
              <a:t>Transactions run with optimized gas pricing estimations, keeping chain interaction costs at absolute minimums.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✔ One-Click Deposit &amp; Withdrawals</a:t>
            </a:r>
          </a:p>
          <a:p>
            <a:pPr>
              <a:spcAft>
                <a:spcPts val="400"/>
              </a:spcAft>
              <a:defRPr sz="1000">
                <a:solidFill>
                  <a:srgbClr val="D1D5DB"/>
                </a:solidFill>
                <a:latin typeface="Segoe UI"/>
              </a:defRPr>
            </a:pPr>
            <a:r>
              <a:t>Managers can deposit liquidity to seed the business or withdraw profits through verified administrative keys.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4141A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On-Chain Audit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Audit Trails &amp; Security Specs:</a:t>
            </a:r>
          </a:p>
          <a:p>
            <a:pPr>
              <a:spcBef>
                <a:spcPts val="600"/>
              </a:spcBef>
              <a:defRPr sz="1100" b="1">
                <a:solidFill>
                  <a:srgbClr val="9333EA"/>
                </a:solidFill>
                <a:latin typeface="Segoe UI"/>
              </a:defRPr>
            </a:pPr>
            <a:r>
              <a:t>• Transaction Hashing</a:t>
            </a:r>
          </a:p>
          <a:p>
            <a:pPr>
              <a:spcAft>
                <a:spcPts val="400"/>
              </a:spcAft>
              <a:defRPr sz="950">
                <a:solidFill>
                  <a:srgbClr val="D1D5DB"/>
                </a:solidFill>
                <a:latin typeface="Segoe UI"/>
              </a:defRPr>
            </a:pPr>
            <a:r>
              <a:t>Every purchase, sale, and wage payout generates a unique transaction hash (e.g. 0x8eCe6838D...) for public indexing.</a:t>
            </a:r>
          </a:p>
          <a:p>
            <a:pPr>
              <a:spcBef>
                <a:spcPts val="600"/>
              </a:spcBef>
              <a:defRPr sz="1100" b="1">
                <a:solidFill>
                  <a:srgbClr val="9333EA"/>
                </a:solidFill>
                <a:latin typeface="Segoe UI"/>
              </a:defRPr>
            </a:pPr>
            <a:r>
              <a:t>• Immutable Ledger Records</a:t>
            </a:r>
          </a:p>
          <a:p>
            <a:pPr>
              <a:spcAft>
                <a:spcPts val="400"/>
              </a:spcAft>
              <a:defRPr sz="950">
                <a:solidFill>
                  <a:srgbClr val="D1D5DB"/>
                </a:solidFill>
                <a:latin typeface="Segoe UI"/>
              </a:defRPr>
            </a:pPr>
            <a:r>
              <a:t>Database transactions sync to blockchain blocks, making it impossible to backdate receipts or alter profit records.</a:t>
            </a:r>
          </a:p>
          <a:p>
            <a:pPr>
              <a:spcBef>
                <a:spcPts val="600"/>
              </a:spcBef>
              <a:defRPr sz="1100" b="1">
                <a:solidFill>
                  <a:srgbClr val="9333EA"/>
                </a:solidFill>
                <a:latin typeface="Segoe UI"/>
              </a:defRPr>
            </a:pPr>
            <a:r>
              <a:t>• Real-Time Balance Verification</a:t>
            </a:r>
          </a:p>
          <a:p>
            <a:pPr>
              <a:spcAft>
                <a:spcPts val="400"/>
              </a:spcAft>
              <a:defRPr sz="950">
                <a:solidFill>
                  <a:srgbClr val="D1D5DB"/>
                </a:solidFill>
                <a:latin typeface="Segoe UI"/>
              </a:defRPr>
            </a:pPr>
            <a:r>
              <a:t>Asset balance checks run continuously, cross-referencing local SQLite states with contract wallet values.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ATLAS // AUTONOMOUS LEGAL 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Market Oracle System: Bridge to the Real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Connecting Real-World Telemetry to Smart Contracts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3B82F6"/>
                </a:solidFill>
                <a:latin typeface="Segoe UI"/>
              </a:defRPr>
            </a:pPr>
            <a:r>
              <a:t>Autonomous legal entities cannot operate in silos. ATLAS utilizes a data bridge ('Oracle') to bring real-world metrics onto the ledger.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✔ Weather Data Streams: 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Monitors temperature, precipitation, and humidity index to compute local customer traffic coefficients.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✔ Wholesale Pricing Feeds: 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Ingests live material costs (e.g. lemons, sugar) to set maximum budget thresholds for inventory ordering.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✔ Demand Volatility Analysis: 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Evaluates dynamic consumer interest to balance price optimization against supply exhaustion risks.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✔ Verification Mechanics: 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Multi-source oracle checks ensure that individual bad sensors or feed disruptions cannot manipulate the AI's core pricing logic.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ATLAS // AUTONOMOUS LEGAL 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Security &amp; Guardrails: Preventing AI Exploitability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3B82F6"/>
                </a:solidFill>
                <a:latin typeface="Segoe UI"/>
              </a:defRPr>
            </a:pPr>
            <a:r>
              <a:t>Mitigating Autonomous Risks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Limit &amp; Budget Caps</a:t>
            </a:r>
          </a:p>
          <a:p>
            <a:pPr>
              <a:spcAft>
                <a:spcPts val="400"/>
              </a:spcAft>
              <a:defRPr sz="1050">
                <a:solidFill>
                  <a:srgbClr val="D1D5DB"/>
                </a:solidFill>
                <a:latin typeface="Segoe UI"/>
              </a:defRPr>
            </a:pPr>
            <a:r>
              <a:t>Hard limits on transactions (e.g. max ₹1500 per day for restocks) prevent prompt-injection attacks from draining treasury funds.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Sandboxed Decision Testing</a:t>
            </a:r>
          </a:p>
          <a:p>
            <a:pPr>
              <a:spcAft>
                <a:spcPts val="400"/>
              </a:spcAft>
              <a:defRPr sz="1050">
                <a:solidFill>
                  <a:srgbClr val="D1D5DB"/>
                </a:solidFill>
                <a:latin typeface="Segoe UI"/>
              </a:defRPr>
            </a:pPr>
            <a:r>
              <a:t>Before pushing changes to the live SQLite db or blockchain ledger, decisions run through a Dry-Run Validator to check for anomalies.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Fallback Control Protocol</a:t>
            </a:r>
          </a:p>
          <a:p>
            <a:pPr>
              <a:spcAft>
                <a:spcPts val="400"/>
              </a:spcAft>
              <a:defRPr sz="1050">
                <a:solidFill>
                  <a:srgbClr val="D1D5DB"/>
                </a:solidFill>
                <a:latin typeface="Segoe UI"/>
              </a:defRPr>
            </a:pPr>
            <a:r>
              <a:t>If any exception occurs in the reasoning pipeline, the system automatically triggers a Safe Fallback mode, reverting variables to default states.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4141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Fail-Safe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>
                <a:solidFill>
                  <a:srgbClr val="D1D5DB"/>
                </a:solidFill>
                <a:latin typeface="Segoe UI"/>
              </a:defRPr>
            </a:pPr>
            <a:r>
              <a:t>Decentralized businesses require bulletproof security against AI drift or prompt tampering.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✔ Administrative Sign-offs</a:t>
            </a:r>
          </a:p>
          <a:p>
            <a:pPr>
              <a:spcAft>
                <a:spcPts val="400"/>
              </a:spcAft>
              <a:defRPr sz="1000">
                <a:solidFill>
                  <a:srgbClr val="D1D5DB"/>
                </a:solidFill>
                <a:latin typeface="Segoe UI"/>
              </a:defRPr>
            </a:pPr>
            <a:r>
              <a:t>Certain high-value decisions (e.g., wallet withdrawals) generate a verification link requiring admin approval, maintaining human-in-the-loop oversight.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✔ Immutable Logging</a:t>
            </a:r>
          </a:p>
          <a:p>
            <a:pPr>
              <a:spcAft>
                <a:spcPts val="400"/>
              </a:spcAft>
              <a:defRPr sz="1000">
                <a:solidFill>
                  <a:srgbClr val="D1D5DB"/>
                </a:solidFill>
                <a:latin typeface="Segoe UI"/>
              </a:defRPr>
            </a:pPr>
            <a:r>
              <a:t>Every prompt sent to Claude, and every raw response received, is stored in a read-only ActivityLog, creating an unalterable history ledger.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ATLAS // AUTONOMOUS LEGAL 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ATLAS AI: Competitive Edge &amp; Market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4114800"/>
          </a:xfrm>
          <a:prstGeom prst="rect">
            <a:avLst/>
          </a:prstGeom>
          <a:solidFill>
            <a:srgbClr val="14141A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Traditional 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High corporate management overhead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Manual billing and payroll processes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Slow reaction to localized market changes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Closed internal records with opaque audits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Relies on slow, manual vendor contract enforcement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383280" cy="4114800"/>
          </a:xfrm>
          <a:prstGeom prst="rect">
            <a:avLst/>
          </a:prstGeom>
          <a:solidFill>
            <a:srgbClr val="14141A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AI Co-Pilot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AI assists human managers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Manual actions still required to execute transactions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High cost of human error remains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Limited real-time autonomy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Lacks direct ledger/wallet integration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4114800"/>
          </a:xfrm>
          <a:prstGeom prst="rect">
            <a:avLst/>
          </a:prstGeom>
          <a:solidFill>
            <a:srgbClr val="14141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ATLAS ALE (Our Solution)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Zero management overhead costs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Real-time, 24/7 automated operations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Programmatic pricing based on live Oracles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Pure blockchain transparency &amp; auditing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Automated smart contract workforce payouts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ATLAS // AUTONOMOUS LEGAL 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Future Milestones &amp;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468880" cy="4114800"/>
          </a:xfrm>
          <a:prstGeom prst="rect">
            <a:avLst/>
          </a:prstGeom>
          <a:solidFill>
            <a:srgbClr val="14141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Q3 2026: Multi-Chain Deployments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>
                <a:solidFill>
                  <a:srgbClr val="D1D5DB"/>
                </a:solidFill>
                <a:latin typeface="Segoe UI"/>
              </a:defRPr>
            </a:pPr>
            <a:r>
              <a:t>Support EVM chains, Solana, and Layer 2s (Arbitrum/Optimism) for gas optimization and microtransaction scaling.</a:t>
            </a:r>
          </a:p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PLANNED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645920"/>
            <a:ext cx="2468880" cy="4114800"/>
          </a:xfrm>
          <a:prstGeom prst="rect">
            <a:avLst/>
          </a:prstGeom>
          <a:solidFill>
            <a:srgbClr val="14141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03320" y="1828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Q4 2026: Sandboxed Previews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>
                <a:solidFill>
                  <a:srgbClr val="D1D5DB"/>
                </a:solidFill>
                <a:latin typeface="Segoe UI"/>
              </a:defRPr>
            </a:pPr>
            <a:r>
              <a:t>Provide isolated container sandboxes to dry-run AI decisions, confirming there are no smart contract regressions before pushing live.</a:t>
            </a:r>
          </a:p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PLANNED PROTOCOL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2468880" cy="4114800"/>
          </a:xfrm>
          <a:prstGeom prst="rect">
            <a:avLst/>
          </a:prstGeom>
          <a:solidFill>
            <a:srgbClr val="14141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Q1 2027: ChatOps Integrations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>
                <a:solidFill>
                  <a:srgbClr val="D1D5DB"/>
                </a:solidFill>
                <a:latin typeface="Segoe UI"/>
              </a:defRPr>
            </a:pPr>
            <a:r>
              <a:t>Provide deep Slack, Discord, and Telegram integrations to notify operators about critical ledger changes or worker applications.</a:t>
            </a:r>
          </a:p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PLANNED PROTOCOL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645920"/>
            <a:ext cx="2468880" cy="4114800"/>
          </a:xfrm>
          <a:prstGeom prst="rect">
            <a:avLst/>
          </a:prstGeom>
          <a:solidFill>
            <a:srgbClr val="14141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89720" y="1828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Q2 2027: LLM Orchestrator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2860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>
                <a:solidFill>
                  <a:srgbClr val="D1D5DB"/>
                </a:solidFill>
                <a:latin typeface="Segoe UI"/>
              </a:defRPr>
            </a:pPr>
            <a:r>
              <a:t>Allow developers to deploy modular custom agents (e.g. Finance Agent, HR Agent) with customizable risk thresholds.</a:t>
            </a:r>
          </a:p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PLANNED PROTOCOL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Segoe UI"/>
              </a:defRPr>
            </a:pPr>
            <a:r>
              <a:t>CONTACT //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Join the Decentralized Future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solidFill>
            <a:srgbClr val="14141A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ATLAS AI: Build Autonomous. Operate Everywhere.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1726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Thank You!</a:t>
            </a:r>
          </a:p>
          <a:p>
            <a:pPr>
              <a:spcAft>
                <a:spcPts val="2500"/>
              </a:spcAft>
              <a:defRPr sz="1400">
                <a:solidFill>
                  <a:srgbClr val="D1D5DB"/>
                </a:solidFill>
                <a:latin typeface="Segoe UI"/>
              </a:defRPr>
            </a:pPr>
            <a:r>
              <a:rPr dirty="0"/>
              <a:t>ATLAS AI represents the paradigm shift in corporate operations: moving from human bureaucratic friction to automated, trustless, and intelligent Web3 command systems.</a:t>
            </a:r>
          </a:p>
          <a:p>
            <a:pPr>
              <a:spcAft>
                <a:spcPts val="800"/>
              </a:spcAft>
              <a:defRPr sz="1300" b="1">
                <a:solidFill>
                  <a:srgbClr val="3B82F6"/>
                </a:solidFill>
                <a:latin typeface="Segoe UI"/>
              </a:defRPr>
            </a:pPr>
            <a:r>
              <a:rPr dirty="0"/>
              <a:t>GitHub Repository: </a:t>
            </a:r>
            <a:r>
              <a:rPr lang="en-IN" dirty="0"/>
              <a:t>github.com/</a:t>
            </a:r>
            <a:r>
              <a:rPr lang="en-IN" dirty="0" err="1"/>
              <a:t>aayush-mistry</a:t>
            </a:r>
            <a:r>
              <a:rPr lang="en-IN" dirty="0"/>
              <a:t>/ATLAS-AI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1857</Words>
  <Application>Microsoft Office PowerPoint</Application>
  <PresentationFormat>Widescreen</PresentationFormat>
  <Paragraphs>199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BLUECHIP COMPUTER</cp:lastModifiedBy>
  <cp:revision>2</cp:revision>
  <dcterms:created xsi:type="dcterms:W3CDTF">2013-01-27T09:14:16Z</dcterms:created>
  <dcterms:modified xsi:type="dcterms:W3CDTF">2026-06-22T04:07:34Z</dcterms:modified>
  <cp:category/>
</cp:coreProperties>
</file>