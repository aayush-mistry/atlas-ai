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760ba65ba3411c" /><Relationship Type="http://schemas.openxmlformats.org/officeDocument/2006/relationships/extended-properties" Target="/docProps/app.xml" Id="R5a11e81ddbbd417c" /><Relationship Type="http://schemas.openxmlformats.org/officeDocument/2006/relationships/officeDocument" Target="/ppt/presentation.xml" Id="R07e7c4b34d2548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2f0c1a0444866"/>
  </p:sldMasterIdLst>
  <p:notesMasterIdLst>
    <p:notesMasterId xmlns:r="http://schemas.openxmlformats.org/officeDocument/2006/relationships" r:id="R22d9b0d03fbd4083"/>
  </p:notesMasterIdLst>
  <p:sldIdLst>
    <p:sldId xmlns:r="http://schemas.openxmlformats.org/officeDocument/2006/relationships" id="256" r:id="Ra0d62a2fb8204881"/>
    <p:sldId xmlns:r="http://schemas.openxmlformats.org/officeDocument/2006/relationships" id="257" r:id="Rd0df0f55f1704979"/>
    <p:sldId xmlns:r="http://schemas.openxmlformats.org/officeDocument/2006/relationships" id="258" r:id="Rff7d87e03cfb4491"/>
    <p:sldId xmlns:r="http://schemas.openxmlformats.org/officeDocument/2006/relationships" id="259" r:id="Re13f6882bbee4fea"/>
    <p:sldId xmlns:r="http://schemas.openxmlformats.org/officeDocument/2006/relationships" id="260" r:id="Rf19a9ae276904562"/>
    <p:sldId xmlns:r="http://schemas.openxmlformats.org/officeDocument/2006/relationships" id="261" r:id="R9b86bfcd9781460a"/>
    <p:sldId xmlns:r="http://schemas.openxmlformats.org/officeDocument/2006/relationships" id="262" r:id="R8070ef22dadb4068"/>
    <p:sldId xmlns:r="http://schemas.openxmlformats.org/officeDocument/2006/relationships" id="263" r:id="R3a0de700e72f47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e6f871f8c4dba" /><Relationship Type="http://schemas.openxmlformats.org/officeDocument/2006/relationships/slideMaster" Target="/ppt/slideMasters/slideMaster1.xml" Id="R2092f0c1a0444866" /><Relationship Type="http://schemas.openxmlformats.org/officeDocument/2006/relationships/notesMaster" Target="/ppt/notesMasters/notesMaster1.xml" Id="R22d9b0d03fbd4083" /><Relationship Type="http://schemas.openxmlformats.org/officeDocument/2006/relationships/presProps" Target="/ppt/presProps.xml" Id="Re64f55f0a4f94c4a" /><Relationship Type="http://schemas.openxmlformats.org/officeDocument/2006/relationships/tableStyles" Target="/ppt/tableStyles.xml" Id="R216c11121e534be4" /><Relationship Type="http://schemas.openxmlformats.org/officeDocument/2006/relationships/slide" Target="/ppt/slides/slide1.xml" Id="Ra0d62a2fb8204881" /><Relationship Type="http://schemas.openxmlformats.org/officeDocument/2006/relationships/slide" Target="/ppt/slides/slide2.xml" Id="Rd0df0f55f1704979" /><Relationship Type="http://schemas.openxmlformats.org/officeDocument/2006/relationships/slide" Target="/ppt/slides/slide3.xml" Id="Rff7d87e03cfb4491" /><Relationship Type="http://schemas.openxmlformats.org/officeDocument/2006/relationships/slide" Target="/ppt/slides/slide4.xml" Id="Re13f6882bbee4fea" /><Relationship Type="http://schemas.openxmlformats.org/officeDocument/2006/relationships/slide" Target="/ppt/slides/slide5.xml" Id="Rf19a9ae276904562" /><Relationship Type="http://schemas.openxmlformats.org/officeDocument/2006/relationships/slide" Target="/ppt/slides/slide6.xml" Id="R9b86bfcd9781460a" /><Relationship Type="http://schemas.openxmlformats.org/officeDocument/2006/relationships/slide" Target="/ppt/slides/slide7.xml" Id="R8070ef22dadb4068" /><Relationship Type="http://schemas.openxmlformats.org/officeDocument/2006/relationships/slide" Target="/ppt/slides/slide8.xml" Id="R3a0de700e72f47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427382d8745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5fab044d8f4ecc" /><Relationship Type="http://schemas.openxmlformats.org/officeDocument/2006/relationships/notesMaster" Target="/ppt/notesMasters/notesMaster1.xml" Id="R0813b1db1def4a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7815b0097c496b" /><Relationship Type="http://schemas.openxmlformats.org/officeDocument/2006/relationships/notesMaster" Target="/ppt/notesMasters/notesMaster1.xml" Id="Rf5fd1227413b4f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9c078d4ebf4eb2" /><Relationship Type="http://schemas.openxmlformats.org/officeDocument/2006/relationships/notesMaster" Target="/ppt/notesMasters/notesMaster1.xml" Id="Rce6f84f0578745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cf936a68f54f1b" /><Relationship Type="http://schemas.openxmlformats.org/officeDocument/2006/relationships/notesMaster" Target="/ppt/notesMasters/notesMaster1.xml" Id="R13a6ab1647454f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612bb253b04799" /><Relationship Type="http://schemas.openxmlformats.org/officeDocument/2006/relationships/notesMaster" Target="/ppt/notesMasters/notesMaster1.xml" Id="Re6a550fca26147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3c032b656948ac" /><Relationship Type="http://schemas.openxmlformats.org/officeDocument/2006/relationships/notesMaster" Target="/ppt/notesMasters/notesMaster1.xml" Id="R460c42d5661345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c5b9c1f84d4009" /><Relationship Type="http://schemas.openxmlformats.org/officeDocument/2006/relationships/notesMaster" Target="/ppt/notesMasters/notesMaster1.xml" Id="Rb79034407a3745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55653a3a3d48d4" /><Relationship Type="http://schemas.openxmlformats.org/officeDocument/2006/relationships/notesMaster" Target="/ppt/notesMasters/notesMaster1.xml" Id="R7fd3733cc3d2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f83b23a3e4c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f83dbdaf6c4ed3" /><Relationship Type="http://schemas.openxmlformats.org/officeDocument/2006/relationships/slideLayout" Target="/ppt/slideLayouts/slideLayout1.xml" Id="R1e25e664cad64b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25e664cad64b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2e9a712ac413c" /><Relationship Type="http://schemas.openxmlformats.org/officeDocument/2006/relationships/notesSlide" Target="/ppt/notesSlides/notesSlide1.xml" Id="Re8ab05bf4cbe4f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db815f91f4f90" /><Relationship Type="http://schemas.openxmlformats.org/officeDocument/2006/relationships/notesSlide" Target="/ppt/notesSlides/notesSlide2.xml" Id="R05e3ce34327641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7a6a8a8db4b0d" /><Relationship Type="http://schemas.openxmlformats.org/officeDocument/2006/relationships/notesSlide" Target="/ppt/notesSlides/notesSlide3.xml" Id="Rb59c920696be47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b00d7b1af4d25" /><Relationship Type="http://schemas.openxmlformats.org/officeDocument/2006/relationships/notesSlide" Target="/ppt/notesSlides/notesSlide4.xml" Id="R5e5e5d239bc844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7de2827784d54" /><Relationship Type="http://schemas.openxmlformats.org/officeDocument/2006/relationships/notesSlide" Target="/ppt/notesSlides/notesSlide5.xml" Id="R4442408c15da4b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6fdbf0d5b4e40" /><Relationship Type="http://schemas.openxmlformats.org/officeDocument/2006/relationships/notesSlide" Target="/ppt/notesSlides/notesSlide6.xml" Id="R2f7180649dbd45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e8ce70f22494c" /><Relationship Type="http://schemas.openxmlformats.org/officeDocument/2006/relationships/notesSlide" Target="/ppt/notesSlides/notesSlide7.xml" Id="Red7abc0a2d9648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1ddb86a404a45" /><Relationship Type="http://schemas.openxmlformats.org/officeDocument/2006/relationships/notesSlide" Target="/ppt/notesSlides/notesSlide8.xml" Id="R9c21e209d1a146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ED86D-01C1-441B-BF76-9A3CE633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22A97-5853-434B-916C-46EF9925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952500"/>
            <a:ext cx="26670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167D0-5FB9-4010-86AE-E0152D7F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29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47E59-58D8-40A3-BF94-4D4EA3A9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C89"/>
                </a:solidFill>
              </a:defRPr>
            </a:pPr>
            <a:r>
              <a:rPr sz="975" b="0">
                <a:solidFill>
                  <a:srgbClr val="747C89"/>
                </a:solidFill>
              </a:rPr>
              <a:t>ALTAS  |  Autonomous Legal Entity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975A9-D777-4E49-BB68-3D86B447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C89"/>
                </a:solidFill>
              </a:defRPr>
            </a:pPr>
            <a:r>
              <a:rPr sz="1050" b="1">
                <a:solidFill>
                  <a:srgbClr val="747C8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21F3B-4075-4626-A430-D98B9350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8C7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C09ED-E4C0-4B30-83D7-6C64A78D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247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C7DF"/>
                </a:solidFill>
              </a:defRPr>
            </a:pPr>
            <a:r>
              <a:rPr sz="1050" b="1">
                <a:solidFill>
                  <a:srgbClr val="28C7DF"/>
                </a:solidFill>
              </a:rPr>
              <a:t>DEMO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D4D2C-0A45-4DFB-A89B-33DF9285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7F8FB"/>
                </a:solidFill>
              </a:defRPr>
            </a:pPr>
            <a:r>
              <a:rPr sz="4800" b="1">
                <a:solidFill>
                  <a:srgbClr val="F7F8FB"/>
                </a:solidFill>
              </a:rPr>
              <a:t>ALTAS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8A2A3-79E8-4545-897E-E4C9D365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7ADB7"/>
                </a:solidFill>
              </a:defRPr>
            </a:pPr>
            <a:r>
              <a:rPr sz="2100" b="0">
                <a:solidFill>
                  <a:srgbClr val="A7ADB7"/>
                </a:solidFill>
              </a:rPr>
              <a:t>Autonomous Legal Entity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BD872-BA86-4681-942A-E6DAFA44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8FB"/>
                </a:solidFill>
              </a:defRPr>
            </a:pPr>
            <a:r>
              <a:rPr sz="1800" b="0">
                <a:solidFill>
                  <a:srgbClr val="F7F8FB"/>
                </a:solidFill>
              </a:rPr>
              <a:t>An AI-operated business command center for treasury, operations, decisions, and transparent financial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C945C-7FF0-4FD0-BAE9-24854D5A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3429000" cy="4095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B4335-E5B3-40A7-A2DD-8CA67175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381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9DDC5-6D0A-4F94-8886-E0BCF404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2A2EC-C006-4928-A04B-58D65BEA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DB7"/>
                </a:solidFill>
              </a:defRPr>
            </a:pPr>
            <a:r>
              <a:rPr sz="1050" b="1">
                <a:solidFill>
                  <a:srgbClr val="A7ADB7"/>
                </a:solidFill>
              </a:rPr>
              <a:t>TREASURY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9804A-06F0-4D85-BF44-878E3BE4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B63FF"/>
                </a:solidFill>
              </a:defRPr>
            </a:pPr>
            <a:r>
              <a:rPr sz="2250" b="1">
                <a:solidFill>
                  <a:srgbClr val="8B63FF"/>
                </a:solidFill>
              </a:rPr>
              <a:t>₹129K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3DFEB-02AB-49E4-AB9C-1286A7A1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47C89"/>
                </a:solidFill>
              </a:defRPr>
            </a:pPr>
            <a:r>
              <a:rPr sz="1125" b="0">
                <a:solidFill>
                  <a:srgbClr val="747C89"/>
                </a:solidFill>
              </a:rPr>
              <a:t>Live wallet balance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9E1A7-8534-41BF-A733-D58FC5B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2381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4F46D-CC01-4CDB-AB56-C0476511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C1D2B-D6FE-45CE-9C90-EFF21D30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DB7"/>
                </a:solidFill>
              </a:defRPr>
            </a:pPr>
            <a:r>
              <a:rPr sz="1050" b="1">
                <a:solidFill>
                  <a:srgbClr val="A7ADB7"/>
                </a:solidFill>
              </a:rPr>
              <a:t>MARKET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723F0-2444-4FC2-9392-DB98A571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C7DF"/>
                </a:solidFill>
              </a:defRPr>
            </a:pPr>
            <a:r>
              <a:rPr sz="2250" b="1">
                <a:solidFill>
                  <a:srgbClr val="28C7DF"/>
                </a:solidFill>
              </a:rPr>
              <a:t>Open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67298-2986-4CDE-B8F6-81DCDD91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47C89"/>
                </a:solidFill>
              </a:defRPr>
            </a:pPr>
            <a:r>
              <a:rPr sz="1125" b="0">
                <a:solidFill>
                  <a:srgbClr val="747C89"/>
                </a:solidFill>
              </a:rPr>
              <a:t>Countdown aware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661C8-5C29-47A0-82D2-99456881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FF4C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80317-9ECD-407F-8AAB-8A35DDA2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0067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4C5B"/>
                </a:solidFill>
              </a:defRPr>
            </a:pPr>
            <a:r>
              <a:rPr sz="1050" b="1">
                <a:solidFill>
                  <a:srgbClr val="FF4C5B"/>
                </a:solidFill>
              </a:rPr>
              <a:t>AI CEO READY</a:t>
            </a:r>
          </a:p>
        </p:txBody>
      </p:sp>
    </p:spTree>
    <p:extLst>
      <p:ext uri="{BB962C8B-B14F-4D97-AF65-F5344CB8AC3E}">
        <p14:creationId xmlns:p14="http://schemas.microsoft.com/office/powerpoint/2010/main" val="18642374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DDE589-E667-4EC8-BBBE-61F1996C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851D9-FA62-4F3B-92D7-BFA37078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952500"/>
            <a:ext cx="26670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B4337-1DC9-4E5E-B0E1-F3136D17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29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F8BDE-C885-474D-B17D-E136A013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C89"/>
                </a:solidFill>
              </a:defRPr>
            </a:pPr>
            <a:r>
              <a:rPr sz="975" b="0">
                <a:solidFill>
                  <a:srgbClr val="747C89"/>
                </a:solidFill>
              </a:rPr>
              <a:t>ALTAS  |  Autonomous Legal Entity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AB397-ECFB-4F39-8441-05DB628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C89"/>
                </a:solidFill>
              </a:defRPr>
            </a:pPr>
            <a:r>
              <a:rPr sz="1050" b="1">
                <a:solidFill>
                  <a:srgbClr val="747C8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2A80A-9871-4506-97C7-0270CC0E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C7DF"/>
                </a:solidFill>
              </a:defRPr>
            </a:pPr>
            <a:r>
              <a:rPr sz="1200" b="1">
                <a:solidFill>
                  <a:srgbClr val="28C7DF"/>
                </a:solidFill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8C0B1-C6BE-416F-981F-4FA0022F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</a:defRPr>
            </a:pPr>
            <a:r>
              <a:rPr sz="3150" b="1">
                <a:solidFill>
                  <a:srgbClr val="F7F8FB"/>
                </a:solidFill>
              </a:rPr>
              <a:t>Small businesses still run on manual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C6341-443E-47F8-B65B-F2117DA3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ADB7"/>
                </a:solidFill>
              </a:defRPr>
            </a:pPr>
            <a:r>
              <a:rPr sz="1500" b="0">
                <a:solidFill>
                  <a:srgbClr val="A7ADB7"/>
                </a:solidFill>
              </a:rPr>
              <a:t>Pricing, sales, expenses, workers, treasury, and audits are usually spread across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B3A95-A5C3-46F3-8ED7-071C497F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0F05D-990F-424A-9212-852A7AF3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</a:defRPr>
            </a:pPr>
            <a:r>
              <a:rPr sz="1650" b="1">
                <a:solidFill>
                  <a:srgbClr val="F7F8FB"/>
                </a:solidFill>
              </a:rPr>
              <a:t>Manual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56447-D07C-4C69-8703-CE3F0431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DB7"/>
                </a:solidFill>
              </a:defRPr>
            </a:pPr>
            <a:r>
              <a:rPr sz="1200" b="0">
                <a:solidFill>
                  <a:srgbClr val="A7ADB7"/>
                </a:solidFill>
              </a:rPr>
              <a:t>Owners react late to revenue, expense, and cash-flow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C1FA6-9C75-4235-A28E-9EE603D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E6687-1243-4B4F-AAB5-BB829046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86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</a:defRPr>
            </a:pPr>
            <a:r>
              <a:rPr sz="1650" b="1">
                <a:solidFill>
                  <a:srgbClr val="F7F8FB"/>
                </a:solidFill>
              </a:rPr>
              <a:t>Opaque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EA5F6-2099-481B-8B40-5BD6C1E6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71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DB7"/>
                </a:solidFill>
              </a:defRPr>
            </a:pPr>
            <a:r>
              <a:rPr sz="1200" b="0">
                <a:solidFill>
                  <a:srgbClr val="A7ADB7"/>
                </a:solidFill>
              </a:rPr>
              <a:t>AI decisions often lack reasons, impact, and review trails.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7F951-0BCD-46DF-B33C-3C07F2FB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524A5-D961-40B1-BBAB-7CD6570E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</a:defRPr>
            </a:pPr>
            <a:r>
              <a:rPr sz="1650" b="1">
                <a:solidFill>
                  <a:srgbClr val="F7F8FB"/>
                </a:solidFill>
              </a:rPr>
              <a:t>Disconnected 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701BE-7391-49F8-B7E5-D1E092FD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72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ADB7"/>
                </a:solidFill>
              </a:defRPr>
            </a:pPr>
            <a:r>
              <a:rPr sz="1200" b="0">
                <a:solidFill>
                  <a:srgbClr val="A7ADB7"/>
                </a:solidFill>
              </a:rPr>
              <a:t>Sales, wallets, workers, and logs are not managed as one entity.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6EBB1-B110-48E7-970A-6DA6CE33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3619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F6D49-D31D-4BFB-82D7-32BC0CF0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C7DF"/>
                </a:solidFill>
              </a:defRPr>
            </a:pPr>
            <a:r>
              <a:rPr sz="2100" b="1">
                <a:solidFill>
                  <a:srgbClr val="28C7DF"/>
                </a:solidFill>
              </a:rPr>
              <a:t>Business owners need a single operational brain that is accountable, inspectable, and financially aware.</a:t>
            </a:r>
          </a:p>
        </p:txBody>
      </p:sp>
    </p:spTree>
    <p:extLst>
      <p:ext uri="{BB962C8B-B14F-4D97-AF65-F5344CB8AC3E}">
        <p14:creationId xmlns:p14="http://schemas.microsoft.com/office/powerpoint/2010/main" val="1852312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3884CD-77AB-4066-979C-775A6C5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59E4D-AE9F-472B-B93E-328E1A60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952500"/>
            <a:ext cx="26670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819A0-CA3E-405B-84F5-7957A70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29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846A8-ED98-43B2-8ED8-02360C99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C89"/>
                </a:solidFill>
              </a:defRPr>
            </a:pPr>
            <a:r>
              <a:rPr sz="975" b="0">
                <a:solidFill>
                  <a:srgbClr val="747C89"/>
                </a:solidFill>
              </a:rPr>
              <a:t>ALTAS  |  Autonomous Legal Entity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64E1D-6E82-46D0-A136-4415E861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C89"/>
                </a:solidFill>
              </a:defRPr>
            </a:pPr>
            <a:r>
              <a:rPr sz="1050" b="1">
                <a:solidFill>
                  <a:srgbClr val="747C8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6CC69-9644-42B6-A90D-72019C2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C7DF"/>
                </a:solidFill>
              </a:defRPr>
            </a:pPr>
            <a:r>
              <a:rPr sz="1200" b="1">
                <a:solidFill>
                  <a:srgbClr val="28C7DF"/>
                </a:solidFill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20C5C-4A5A-46CD-81B3-28D22D3A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</a:defRPr>
            </a:pPr>
            <a:r>
              <a:rPr sz="3150" b="1">
                <a:solidFill>
                  <a:srgbClr val="F7F8FB"/>
                </a:solidFill>
              </a:rPr>
              <a:t>ALTAS turns an entity into an autonomous operator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17D6A-9466-44A9-A772-0DA088A3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ADB7"/>
                </a:solidFill>
              </a:defRPr>
            </a:pPr>
            <a:r>
              <a:rPr sz="1500" b="0">
                <a:solidFill>
                  <a:srgbClr val="A7ADB7"/>
                </a:solidFill>
              </a:rPr>
              <a:t>The dashboard combines AI decisions, treasury management, analytics, and operating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5B925-EB24-4112-AC4B-DD6C36BB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4003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F8826-1B29-4B48-8CD9-CDB4E4C1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8E1B8-3E4C-4C42-86EB-4EDE51B4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B63FF"/>
                </a:solidFill>
              </a:defRPr>
            </a:pPr>
            <a:r>
              <a:rPr sz="1800" b="1">
                <a:solidFill>
                  <a:srgbClr val="8B63FF"/>
                </a:solidFill>
              </a:rPr>
              <a:t>AI CEO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C1BEC-C53D-4638-B944-1D75F259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Explains actions and expected financial impact.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A1106-FDFC-4E44-A0E1-BD086B9C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4003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26FDB-DD3C-4DDD-80E2-35666AB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9434B-6383-4300-A5FB-132AA97C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C7DF"/>
                </a:solidFill>
              </a:defRPr>
            </a:pPr>
            <a:r>
              <a:rPr sz="1800" b="1">
                <a:solidFill>
                  <a:srgbClr val="28C7DF"/>
                </a:solidFill>
              </a:rPr>
              <a:t>Treasury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39250-34F9-460A-871D-4182740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862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Tracks balance, ledger, investments, and transfers.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9C056-B8D5-4A07-95B0-46F5E728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4003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C1049-71DD-4231-BEA0-A1FDE558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C06EB-613C-415A-824E-BE66D375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29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4C5B"/>
                </a:solidFill>
              </a:defRPr>
            </a:pPr>
            <a:r>
              <a:rPr sz="1800" b="1">
                <a:solidFill>
                  <a:srgbClr val="FF4C5B"/>
                </a:solidFill>
              </a:rPr>
              <a:t>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98637-C6D1-4C42-AB08-49F9B966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Controls business open/close state and worker readiness.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FF744-5032-4838-B0C0-18374E42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4003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FFBD3-B029-4B52-9867-B8C1B6A8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7C667-B484-425B-BE96-09626587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29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AEEDE-1617-4DA5-BF98-76F30EF6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Filters KPIs, charts, tables, and logs by date range.</a:t>
            </a:r>
          </a:p>
        </p:txBody>
      </p:sp>
    </p:spTree>
    <p:extLst>
      <p:ext uri="{BB962C8B-B14F-4D97-AF65-F5344CB8AC3E}">
        <p14:creationId xmlns:p14="http://schemas.microsoft.com/office/powerpoint/2010/main" val="1635568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DF082-ACD5-432B-B4EF-35602564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C37B8-E2AC-42AB-893C-CAC8237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952500"/>
            <a:ext cx="26670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B624E-9B59-4D56-BA56-CB32406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29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633E6-F807-4EE1-A886-37A5379B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C89"/>
                </a:solidFill>
              </a:defRPr>
            </a:pPr>
            <a:r>
              <a:rPr sz="975" b="0">
                <a:solidFill>
                  <a:srgbClr val="747C89"/>
                </a:solidFill>
              </a:rPr>
              <a:t>ALTAS  |  Autonomous Legal Entity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00065-07AB-4CB5-B893-79ACF475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C89"/>
                </a:solidFill>
              </a:defRPr>
            </a:pPr>
            <a:r>
              <a:rPr sz="1050" b="1">
                <a:solidFill>
                  <a:srgbClr val="747C89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57E36-4229-4D1D-9B31-88F15D3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C7DF"/>
                </a:solidFill>
              </a:defRPr>
            </a:pPr>
            <a:r>
              <a:rPr sz="1200" b="1">
                <a:solidFill>
                  <a:srgbClr val="28C7DF"/>
                </a:solidFill>
              </a:rPr>
              <a:t>PRODUCT WALKTHROUGH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62297-724C-4795-8ED0-A8B1D74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</a:defRPr>
            </a:pPr>
            <a:r>
              <a:rPr sz="3150" b="1">
                <a:solidFill>
                  <a:srgbClr val="F7F8FB"/>
                </a:solidFill>
              </a:rPr>
              <a:t>One dashboard for decisions and money movement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6A179-19CA-4F4C-96F8-0FAAA948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ADB7"/>
                </a:solidFill>
              </a:defRPr>
            </a:pPr>
            <a:r>
              <a:rPr sz="1500" b="0">
                <a:solidFill>
                  <a:srgbClr val="A7ADB7"/>
                </a:solidFill>
              </a:rPr>
              <a:t>ALTAS surfaces the operational state, financial state, and AI reasoning in one command center.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BBB81-D37D-48B4-9C0E-7FC10897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381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C6447-E5E1-4655-8D3F-8A8B25E8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00E49-6D8C-4212-94B3-5B5613FF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DB7"/>
                </a:solidFill>
              </a:defRPr>
            </a:pPr>
            <a:r>
              <a:rPr sz="1050" b="1">
                <a:solidFill>
                  <a:srgbClr val="A7ADB7"/>
                </a:solidFill>
              </a:rPr>
              <a:t>TREASURY 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B3BC9-89B5-4798-A8F2-1A2B6092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B63FF"/>
                </a:solidFill>
              </a:defRPr>
            </a:pPr>
            <a:r>
              <a:rPr sz="2250" b="1">
                <a:solidFill>
                  <a:srgbClr val="8B63FF"/>
                </a:solidFill>
              </a:rPr>
              <a:t>₹129,279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93CD8-C918-4475-AD58-450CCC26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47C89"/>
                </a:solidFill>
              </a:defRPr>
            </a:pPr>
            <a:r>
              <a:rPr sz="1125" b="0">
                <a:solidFill>
                  <a:srgbClr val="747C89"/>
                </a:solidFill>
              </a:rPr>
              <a:t>Wallet, ledger, transact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ED9FC-EB23-4242-8A7B-E21F11D5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2381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C084F-DAE1-4F28-AE9B-E3B91FF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96B1D-C3FD-41D5-8475-A49658E2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24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DB7"/>
                </a:solidFill>
              </a:defRPr>
            </a:pPr>
            <a:r>
              <a:rPr sz="1050" b="1">
                <a:solidFill>
                  <a:srgbClr val="A7ADB7"/>
                </a:solidFill>
              </a:rPr>
              <a:t>NET PROFIT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114D3-1889-4E88-9F56-D494F4B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C7DF"/>
                </a:solidFill>
              </a:defRPr>
            </a:pPr>
            <a:r>
              <a:rPr sz="2250" b="1">
                <a:solidFill>
                  <a:srgbClr val="28C7DF"/>
                </a:solidFill>
              </a:rPr>
              <a:t>+₹4,180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E590C-9D9E-4447-97C5-54D339D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47C89"/>
                </a:solidFill>
              </a:defRPr>
            </a:pPr>
            <a:r>
              <a:rPr sz="1125" b="0">
                <a:solidFill>
                  <a:srgbClr val="747C89"/>
                </a:solidFill>
              </a:rPr>
              <a:t>Range-filtered P&amp;L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D4B46-F9BF-4AF4-8E8A-10C3848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2381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08B10-6B57-4174-ADB2-A2291498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64F0C-A2D6-4554-A8C6-C6AD2703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DB7"/>
                </a:solidFill>
              </a:defRPr>
            </a:pPr>
            <a:r>
              <a:rPr sz="1050" b="1">
                <a:solidFill>
                  <a:srgbClr val="A7ADB7"/>
                </a:solidFill>
              </a:rPr>
              <a:t>REVENUE / EXPENSES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738D0-014B-40B2-BA7C-F8231A59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71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4C5B"/>
                </a:solidFill>
              </a:defRPr>
            </a:pPr>
            <a:r>
              <a:rPr sz="2250" b="1">
                <a:solidFill>
                  <a:srgbClr val="FF4C5B"/>
                </a:solidFill>
              </a:rPr>
              <a:t>80 /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46D21-CDD7-4152-9A2E-1724B7A1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47C89"/>
                </a:solidFill>
              </a:defRPr>
            </a:pPr>
            <a:r>
              <a:rPr sz="1125" b="0">
                <a:solidFill>
                  <a:srgbClr val="747C89"/>
                </a:solidFill>
              </a:rPr>
              <a:t>Dynamic summaries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A6D1B-D739-48B2-82C7-951AAD6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14650"/>
            <a:ext cx="23812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9D526A-77A1-4305-83B1-0D519E11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146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D722E-F6EB-4CF5-B9E2-D00410DC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24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ADB7"/>
                </a:solidFill>
              </a:defRPr>
            </a:pPr>
            <a:r>
              <a:rPr sz="1050" b="1">
                <a:solidFill>
                  <a:srgbClr val="A7ADB7"/>
                </a:solidFill>
              </a:rPr>
              <a:t>MARKET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419C76-165E-42C8-BBD7-16C6BA66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9E0B"/>
                </a:solidFill>
              </a:defRPr>
            </a:pPr>
            <a:r>
              <a:rPr sz="2250" b="1">
                <a:solidFill>
                  <a:srgbClr val="F59E0B"/>
                </a:solidFill>
              </a:rPr>
              <a:t>Open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FEAAD-1FFD-4C3F-98B2-18C06624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47C89"/>
                </a:solidFill>
              </a:defRPr>
            </a:pPr>
            <a:r>
              <a:rPr sz="1125" b="0">
                <a:solidFill>
                  <a:srgbClr val="747C89"/>
                </a:solidFill>
              </a:rPr>
              <a:t>Hours + countdown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10688-F5AD-4512-A734-361B3426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44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F8699-C1D6-417F-A4E2-BD2525F5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</a:defRPr>
            </a:pPr>
            <a:r>
              <a:rPr sz="1650" b="1">
                <a:solidFill>
                  <a:srgbClr val="F7F8FB"/>
                </a:solidFill>
              </a:rPr>
              <a:t>Latest Operational Result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75A86-EF2D-4A35-A7A1-F5E13DFF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Sold 2 cups for ₹80. Balance updated instantly and reflected across KPIs, ledger,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189437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7A3E8-9F2C-4119-A8CF-2AED3A26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2AF15-EABB-4209-826C-8C5E3546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952500"/>
            <a:ext cx="26670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4FCC2-BBBA-46C7-AA05-1644EFD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29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5B079-31BD-495D-8DEF-B0C3048D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C89"/>
                </a:solidFill>
              </a:defRPr>
            </a:pPr>
            <a:r>
              <a:rPr sz="975" b="0">
                <a:solidFill>
                  <a:srgbClr val="747C89"/>
                </a:solidFill>
              </a:rPr>
              <a:t>ALTAS  |  Autonomous Legal Entity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9CFDC-4D94-4ACD-B833-FB484267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C89"/>
                </a:solidFill>
              </a:defRPr>
            </a:pPr>
            <a:r>
              <a:rPr sz="1050" b="1">
                <a:solidFill>
                  <a:srgbClr val="747C8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94DD9-02CF-4C35-B827-D9689851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C7DF"/>
                </a:solidFill>
              </a:defRPr>
            </a:pPr>
            <a:r>
              <a:rPr sz="1200" b="1">
                <a:solidFill>
                  <a:srgbClr val="28C7DF"/>
                </a:solidFill>
              </a:rPr>
              <a:t>KEY CAPABILITIES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CBABE-7F1B-493C-8371-DE024BC1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</a:defRPr>
            </a:pPr>
            <a:r>
              <a:rPr sz="3150" b="1">
                <a:solidFill>
                  <a:srgbClr val="F7F8FB"/>
                </a:solidFill>
              </a:rPr>
              <a:t>What ALTAS already demonstrates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5C8CA-7A59-4862-AF43-8D50ED9E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ADB7"/>
                </a:solidFill>
              </a:defRPr>
            </a:pPr>
            <a:r>
              <a:rPr sz="1500" b="0">
                <a:solidFill>
                  <a:srgbClr val="A7ADB7"/>
                </a:solidFill>
              </a:rPr>
              <a:t>The current prototype is structured for backend/API replacement where mock data is used today.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942C1-F60D-493A-BCBE-EED5673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7F2FC-A2B0-44D6-A23E-F5ED08F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</a:defRPr>
            </a:pPr>
            <a:r>
              <a:rPr sz="1650" b="0">
                <a:solidFill>
                  <a:srgbClr val="F7F8FB"/>
                </a:solidFill>
              </a:rPr>
              <a:t>Rebranded ALTAS experience with responsive dark dashboard 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7F88A-CD2D-47C3-A9BB-B801E945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AB941-D4EA-4E62-ADAC-B64038CA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</a:defRPr>
            </a:pPr>
            <a:r>
              <a:rPr sz="1650" b="0">
                <a:solidFill>
                  <a:srgbClr val="F7F8FB"/>
                </a:solidFill>
              </a:rPr>
              <a:t>Market status card with open/closed state, market hours, and countdown.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D5338-76B4-4B9B-AEA7-1848F0C7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66CD7-E389-4181-B6E9-FAF76646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</a:defRPr>
            </a:pPr>
            <a:r>
              <a:rPr sz="1650" b="0">
                <a:solidFill>
                  <a:srgbClr val="F7F8FB"/>
                </a:solidFill>
              </a:rPr>
              <a:t>Date range filters: Today, Yesterday, Last 7 Days, This Month, Last Month, and Custom.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D8A1E-7FAD-4B8D-8DD8-DD06E60D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9339D-C85D-41B7-B870-7372EBE5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</a:defRPr>
            </a:pPr>
            <a:r>
              <a:rPr sz="1650" b="0">
                <a:solidFill>
                  <a:srgbClr val="F7F8FB"/>
                </a:solidFill>
              </a:rPr>
              <a:t>Filtered KPIs, charts, tables, transactions, P&amp;L, revenue, expenses, investments, and AI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3619F-F56A-48C6-BC00-2BEF61EF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2F985-4758-481F-894F-9BDDE717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8FB"/>
                </a:solidFill>
              </a:defRPr>
            </a:pPr>
            <a:r>
              <a:rPr sz="1650" b="0">
                <a:solidFill>
                  <a:srgbClr val="F7F8FB"/>
                </a:solidFill>
              </a:rPr>
              <a:t>AI CEO action log with reason, expected impact, and operational result feedback.</a:t>
            </a:r>
          </a:p>
        </p:txBody>
      </p:sp>
    </p:spTree>
    <p:extLst>
      <p:ext uri="{BB962C8B-B14F-4D97-AF65-F5344CB8AC3E}">
        <p14:creationId xmlns:p14="http://schemas.microsoft.com/office/powerpoint/2010/main" val="42818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EB497-0553-4A7B-9000-239631DD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F1EF4-42D8-4923-981F-23F3315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952500"/>
            <a:ext cx="26670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FC0EA-0939-4DA3-B49E-EC67D9F9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29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EE350-E2A6-40FD-B170-62F177B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C89"/>
                </a:solidFill>
              </a:defRPr>
            </a:pPr>
            <a:r>
              <a:rPr sz="975" b="0">
                <a:solidFill>
                  <a:srgbClr val="747C89"/>
                </a:solidFill>
              </a:rPr>
              <a:t>ALTAS  |  Autonomous Legal Entity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D07E4-7E79-4F5E-BC28-83BD16DA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C89"/>
                </a:solidFill>
              </a:defRPr>
            </a:pPr>
            <a:r>
              <a:rPr sz="1050" b="1">
                <a:solidFill>
                  <a:srgbClr val="747C89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55B0A-7933-4043-956C-B6322B03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C7DF"/>
                </a:solidFill>
              </a:defRPr>
            </a:pPr>
            <a:r>
              <a:rPr sz="1200" b="1">
                <a:solidFill>
                  <a:srgbClr val="28C7DF"/>
                </a:solidFill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4D148-DEE0-4139-A647-1E85F3A3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</a:defRPr>
            </a:pPr>
            <a:r>
              <a:rPr sz="3150" b="1">
                <a:solidFill>
                  <a:srgbClr val="F7F8FB"/>
                </a:solidFill>
              </a:rPr>
              <a:t>Built for real APIs and smart-contract workflows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64E02-8DF6-4106-9B7F-34EBDFF5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ADB7"/>
                </a:solidFill>
              </a:defRPr>
            </a:pPr>
            <a:r>
              <a:rPr sz="1500" b="0">
                <a:solidFill>
                  <a:srgbClr val="A7ADB7"/>
                </a:solidFill>
              </a:rPr>
              <a:t>Mock/local data keeps the demo fast, while modules are separated for future integration.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91492-8932-4B71-B0DD-C21F10B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00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0B7A8-32E9-43BC-9026-E247DD87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B63FF"/>
                </a:solidFill>
              </a:defRPr>
            </a:pPr>
            <a:r>
              <a:rPr sz="1725" b="1">
                <a:solidFill>
                  <a:srgbClr val="8B63FF"/>
                </a:solidFill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9E135-A2D6-4182-8819-F547C5C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Next.js dashboard</a:t>
            </a:r>
          </a:p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Responsive analytics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54BE0-8070-4336-9461-F49CD5C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000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E87B5-52C6-495F-8852-F1ADBA5A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52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8C7DF"/>
                </a:solidFill>
              </a:defRPr>
            </a:pPr>
            <a:r>
              <a:rPr sz="1725" b="1">
                <a:solidFill>
                  <a:srgbClr val="28C7DF"/>
                </a:solidFill>
              </a:rPr>
              <a:t>Analytics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834DF-58E4-4FB5-BC79-D62DDF5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Date ranges</a:t>
            </a:r>
          </a:p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Market status</a:t>
            </a:r>
          </a:p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6B52D-AA71-4EAA-A5E8-3CB01EA4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2000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99F8E-1C2D-4F87-9785-CA3DC835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4C5B"/>
                </a:solidFill>
              </a:defRPr>
            </a:pPr>
            <a:r>
              <a:rPr sz="1725" b="1">
                <a:solidFill>
                  <a:srgbClr val="FF4C5B"/>
                </a:solidFill>
              </a:rPr>
              <a:t>AI CEO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B276A-1B9F-4028-8DF6-B77E73C0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338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Decision tick</a:t>
            </a:r>
          </a:p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Reasoning log</a:t>
            </a:r>
          </a:p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Expected 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A71A6-E3CD-47F5-82CC-8052709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2000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1820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43622-2224-453E-AE88-15991264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9E0B"/>
                </a:solidFill>
              </a:defRPr>
            </a:pPr>
            <a:r>
              <a:rPr sz="1725" b="1">
                <a:solidFill>
                  <a:srgbClr val="F59E0B"/>
                </a:solidFill>
              </a:rPr>
              <a:t>Backends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8F994-3DC3-416F-B13E-66D0DFAD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3380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Wallet API</a:t>
            </a:r>
          </a:p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Sales API</a:t>
            </a:r>
          </a:p>
          <a:p xmlns:a="http://schemas.openxmlformats.org/drawingml/2006/main">
            <a:pPr>
              <a:defRPr sz="1275" b="0">
                <a:solidFill>
                  <a:srgbClr val="A7ADB7"/>
                </a:solidFill>
              </a:defRPr>
            </a:pPr>
            <a:r>
              <a:rPr sz="1275" b="0">
                <a:solidFill>
                  <a:srgbClr val="A7ADB7"/>
                </a:solidFill>
              </a:rPr>
              <a:t>Jobs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8BC69-26C4-49AE-A1AD-6530C97A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47C89"/>
                </a:solidFill>
              </a:defRPr>
            </a:pPr>
            <a:r>
              <a:rPr sz="3150" b="1">
                <a:solidFill>
                  <a:srgbClr val="747C89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87CD7-FC93-4D9A-8E22-719F5D80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623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47C89"/>
                </a:solidFill>
              </a:defRPr>
            </a:pPr>
            <a:r>
              <a:rPr sz="3150" b="1">
                <a:solidFill>
                  <a:srgbClr val="747C89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34FB6-4E6B-439B-8EEF-4D6D264C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41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47C89"/>
                </a:solidFill>
              </a:defRPr>
            </a:pPr>
            <a:r>
              <a:rPr sz="3150" b="1">
                <a:solidFill>
                  <a:srgbClr val="747C89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11503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F1E74-2529-4D92-92EF-6A453FD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13B5E-A7A2-4A03-B896-C4A777FD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952500"/>
            <a:ext cx="26670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7051B-4700-4176-A026-5E911574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29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F9280-69F3-47D0-9EC2-EFD73883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C89"/>
                </a:solidFill>
              </a:defRPr>
            </a:pPr>
            <a:r>
              <a:rPr sz="975" b="0">
                <a:solidFill>
                  <a:srgbClr val="747C89"/>
                </a:solidFill>
              </a:rPr>
              <a:t>ALTAS  |  Autonomous Legal Entity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38768-FF3D-476B-8FB3-227A6C37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C89"/>
                </a:solidFill>
              </a:defRPr>
            </a:pPr>
            <a:r>
              <a:rPr sz="1050" b="1">
                <a:solidFill>
                  <a:srgbClr val="747C89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9D2BB-C822-4AFF-B5CD-A0E5ECE4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C7DF"/>
                </a:solidFill>
              </a:defRPr>
            </a:pPr>
            <a:r>
              <a:rPr sz="1200" b="1">
                <a:solidFill>
                  <a:srgbClr val="28C7DF"/>
                </a:solidFill>
              </a:rPr>
              <a:t>PROJECT LINKS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E0FD-04C9-45BE-A8F0-4865613E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8FB"/>
                </a:solidFill>
              </a:defRPr>
            </a:pPr>
            <a:r>
              <a:rPr sz="3150" b="1">
                <a:solidFill>
                  <a:srgbClr val="F7F8FB"/>
                </a:solidFill>
              </a:rPr>
              <a:t>Demo &amp; Community Links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3D8F0-BACB-44E2-81D7-2FD7B66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ADB7"/>
                </a:solidFill>
              </a:defRPr>
            </a:pPr>
            <a:r>
              <a:rPr sz="1500" b="0">
                <a:solidFill>
                  <a:srgbClr val="A7ADB7"/>
                </a:solidFill>
              </a:rPr>
              <a:t>Add final URLs before submission or recording. The layout intentionally leaves room for a QR code or short links.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69A86-8B09-4E10-8BDD-9444348C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C5B"/>
                </a:solidFill>
              </a:defRPr>
            </a:pPr>
            <a:r>
              <a:rPr sz="1650" b="1">
                <a:solidFill>
                  <a:srgbClr val="FF4C5B"/>
                </a:solidFill>
              </a:rPr>
              <a:t>Demo video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5E2BA-420E-4C91-9969-F45CD829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1AFF9-5F23-4FAA-AD66-623CAD2D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336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7C89"/>
                </a:solidFill>
              </a:defRPr>
            </a:pPr>
            <a:r>
              <a:rPr sz="1275" b="0">
                <a:solidFill>
                  <a:srgbClr val="747C89"/>
                </a:solidFill>
              </a:rPr>
              <a:t>Paste YouTube / Drive / Loom URL here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21210-0CF1-4976-8920-D4D9EC75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</a:defRPr>
            </a:pPr>
            <a:r>
              <a:rPr sz="1650" b="1">
                <a:solidFill>
                  <a:srgbClr val="F7F8FB"/>
                </a:solidFill>
              </a:rPr>
              <a:t>GitHub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22210-B4FE-46E6-A12E-1FDF0E8A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E64DF-A059-4398-AB13-A924A00C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24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7C89"/>
                </a:solidFill>
              </a:defRPr>
            </a:pPr>
            <a:r>
              <a:rPr sz="1275" b="0">
                <a:solidFill>
                  <a:srgbClr val="747C89"/>
                </a:solidFill>
              </a:rPr>
              <a:t>Paste repository URL 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57819-81BD-4015-9EA2-48AAE18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</a:defRPr>
            </a:pPr>
            <a:r>
              <a:rPr sz="1650" b="1">
                <a:solidFill>
                  <a:srgbClr val="F7F8FB"/>
                </a:solidFill>
              </a:rPr>
              <a:t>LinkedIn 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12742-16C6-465F-91E1-C95BDF04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95260-02BE-42A4-AF13-9DC7628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147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7C89"/>
                </a:solidFill>
              </a:defRPr>
            </a:pPr>
            <a:r>
              <a:rPr sz="1275" b="0">
                <a:solidFill>
                  <a:srgbClr val="747C89"/>
                </a:solidFill>
              </a:rPr>
              <a:t>Paste LinkedIn profile or launch post 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ABC9A-AA87-43B4-B862-169A49BC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</a:defRPr>
            </a:pPr>
            <a:r>
              <a:rPr sz="1650" b="1">
                <a:solidFill>
                  <a:srgbClr val="F7F8FB"/>
                </a:solidFill>
              </a:rPr>
              <a:t>Reddit 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BC1F5-06BF-49BC-93C9-6467D215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0055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B94C8-7DB0-457E-B6C1-560BDCA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053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7C89"/>
                </a:solidFill>
              </a:defRPr>
            </a:pPr>
            <a:r>
              <a:rPr sz="1275" b="0">
                <a:solidFill>
                  <a:srgbClr val="747C89"/>
                </a:solidFill>
              </a:rPr>
              <a:t>Paste Reddit community/showcase URL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04918-7DA9-4A6B-8CFF-F8B60504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8FB"/>
                </a:solidFill>
              </a:defRPr>
            </a:pPr>
            <a:r>
              <a:rPr sz="1650" b="1">
                <a:solidFill>
                  <a:srgbClr val="F7F8FB"/>
                </a:solidFill>
              </a:rPr>
              <a:t>Other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C10EB-13B2-45C5-9987-C7B0A077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9110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DC8DA-4E16-467E-8294-75197D0C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958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7C89"/>
                </a:solidFill>
              </a:defRPr>
            </a:pPr>
            <a:r>
              <a:rPr sz="1275" b="0">
                <a:solidFill>
                  <a:srgbClr val="747C89"/>
                </a:solidFill>
              </a:rPr>
              <a:t>Pitch deck, live demo, X/Twitter, website, or docs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65C7A-366F-4970-A1FC-C07CA741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05100"/>
            <a:ext cx="8001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2B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1A43E-9113-4613-AAAD-F2D3E6DC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9527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47C89"/>
                </a:solidFill>
              </a:defRPr>
            </a:pPr>
            <a:r>
              <a:rPr sz="1650" b="1">
                <a:solidFill>
                  <a:srgbClr val="747C89"/>
                </a:solidFill>
              </a:rPr>
              <a:t>QR</a:t>
            </a:r>
          </a:p>
        </p:txBody>
      </p:sp>
    </p:spTree>
    <p:extLst>
      <p:ext uri="{BB962C8B-B14F-4D97-AF65-F5344CB8AC3E}">
        <p14:creationId xmlns:p14="http://schemas.microsoft.com/office/powerpoint/2010/main" val="1542984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8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8EEF0-21D3-4222-8B51-E862360A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DE6EB-F2FA-4C10-923B-DE2010D8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" y="-952500"/>
            <a:ext cx="26670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1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3159C-17ED-4A6D-9BBC-9C7617A3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292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8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FD6F8-EBFA-4D22-84F6-466F26E7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47C89"/>
                </a:solidFill>
              </a:defRPr>
            </a:pPr>
            <a:r>
              <a:rPr sz="975" b="0">
                <a:solidFill>
                  <a:srgbClr val="747C89"/>
                </a:solidFill>
              </a:rPr>
              <a:t>ALTAS  |  Autonomous Legal Entity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E3ECC-BD7F-495A-BBB6-396D129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7C89"/>
                </a:solidFill>
              </a:defRPr>
            </a:pPr>
            <a:r>
              <a:rPr sz="1050" b="1">
                <a:solidFill>
                  <a:srgbClr val="747C89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6C046-4F2B-47FC-9615-D3406C42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1319"/>
          </a:solidFill>
          <a:ln xmlns:a="http://schemas.openxmlformats.org/drawingml/2006/main" w="9525">
            <a:solidFill>
              <a:srgbClr val="8B6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7F3AC-E07D-4E02-8C3D-6B1EF96B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24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63FF"/>
                </a:solidFill>
              </a:defRPr>
            </a:pPr>
            <a:r>
              <a:rPr sz="1050" b="1">
                <a:solidFill>
                  <a:srgbClr val="8B63FF"/>
                </a:solidFill>
              </a:rPr>
              <a:t>CLOSING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31EBF-9A91-4FFB-AC67-D185B749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8FB"/>
                </a:solidFill>
              </a:defRPr>
            </a:pPr>
            <a:r>
              <a:rPr sz="4200" b="1">
                <a:solidFill>
                  <a:srgbClr val="F7F8FB"/>
                </a:solidFill>
              </a:rPr>
              <a:t>ALTAS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77537-22E8-4587-878C-A5F480AA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8C7DF"/>
                </a:solidFill>
              </a:defRPr>
            </a:pPr>
            <a:r>
              <a:rPr sz="1950" b="0">
                <a:solidFill>
                  <a:srgbClr val="28C7DF"/>
                </a:solidFill>
              </a:rPr>
              <a:t>Autonomous Legal Entity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A652E-9BE0-4649-9E5F-A5D8C435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8FB"/>
                </a:solidFill>
              </a:defRPr>
            </a:pPr>
            <a:r>
              <a:rPr sz="2100" b="1">
                <a:solidFill>
                  <a:srgbClr val="F7F8FB"/>
                </a:solidFill>
              </a:rPr>
              <a:t>Transparent AI operations for treasury, sales, workers, decisions, and entity-level accountability.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5D87D-F596-40A5-B15C-EFC1D4C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4C5B"/>
                </a:solidFill>
              </a:defRPr>
            </a:pPr>
            <a:r>
              <a:rPr sz="3000" b="1">
                <a:solidFill>
                  <a:srgbClr val="FF4C5B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45305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2026-06-21T10:53:13.4540000Z</dcterms:created>
  <dcterms:modified xsi:type="dcterms:W3CDTF">2026-06-21T10:53:13.4540000Z</dcterms:modified>
</coreProperties>
</file>